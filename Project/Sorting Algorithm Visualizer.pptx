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65" r:id="rId11"/>
    <p:sldId id="268" r:id="rId12"/>
  </p:sldIdLst>
  <p:sldSz cx="9144000" cy="5143500" type="screen16x9"/>
  <p:notesSz cx="5143500" cy="9144000"/>
  <p:embeddedFontLst>
    <p:embeddedFont>
      <p:font typeface="Poppins Light" panose="00000400000000000000" pitchFamily="2" charset="0"/>
      <p:regular r:id="rId14"/>
      <p:italic r:id="rId15"/>
    </p:embeddedFont>
    <p:embeddedFont>
      <p:font typeface="Roboto Light" panose="02000000000000000000" pitchFamily="2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2B2F"/>
    <a:srgbClr val="2B2B2E"/>
    <a:srgbClr val="CBCC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66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3814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1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09599" y="869152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CBCCCE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Sorting Algorithm Visualizer</a:t>
            </a:r>
            <a:endParaRPr lang="en-US" sz="2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925119" y="2286446"/>
            <a:ext cx="4722763" cy="1226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1C0C4E-02EE-BAD2-E96D-FBD1CBE059DE}"/>
              </a:ext>
            </a:extLst>
          </p:cNvPr>
          <p:cNvSpPr txBox="1"/>
          <p:nvPr/>
        </p:nvSpPr>
        <p:spPr>
          <a:xfrm>
            <a:off x="4006245" y="1488871"/>
            <a:ext cx="46602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CBCCC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Name: Algorithms Lab</a:t>
            </a:r>
          </a:p>
          <a:p>
            <a:pPr algn="ctr"/>
            <a:r>
              <a:rPr lang="en-US" dirty="0">
                <a:solidFill>
                  <a:srgbClr val="CBCCC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CSE 208 Course Section: 251_D4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562D96-8B75-E396-D0AD-ED1E6680AF30}"/>
              </a:ext>
            </a:extLst>
          </p:cNvPr>
          <p:cNvSpPr txBox="1"/>
          <p:nvPr/>
        </p:nvSpPr>
        <p:spPr>
          <a:xfrm>
            <a:off x="3860800" y="2740555"/>
            <a:ext cx="17659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BCCC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US" dirty="0">
                <a:solidFill>
                  <a:srgbClr val="CBCCC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Jonayet Bogdady</a:t>
            </a:r>
          </a:p>
          <a:p>
            <a:r>
              <a:rPr lang="en-US" dirty="0">
                <a:solidFill>
                  <a:srgbClr val="CBCCC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ID: 251002011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7CAB73-A9A5-FC0E-413D-64C5680F1AB3}"/>
              </a:ext>
            </a:extLst>
          </p:cNvPr>
          <p:cNvSpPr txBox="1"/>
          <p:nvPr/>
        </p:nvSpPr>
        <p:spPr>
          <a:xfrm>
            <a:off x="5920041" y="2710537"/>
            <a:ext cx="32239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BCCC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to</a:t>
            </a:r>
          </a:p>
          <a:p>
            <a:r>
              <a:rPr lang="en-US" dirty="0">
                <a:solidFill>
                  <a:srgbClr val="CBCCC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Ms. Jarin Tasnim Tonvi</a:t>
            </a:r>
          </a:p>
          <a:p>
            <a:r>
              <a:rPr lang="en-US" dirty="0">
                <a:solidFill>
                  <a:srgbClr val="CBCCC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Lecturer, Department of CSE</a:t>
            </a:r>
          </a:p>
          <a:p>
            <a:r>
              <a:rPr lang="en-US" dirty="0">
                <a:solidFill>
                  <a:srgbClr val="CBCCC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Green University of Bangladesh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BB2EE7-625D-259B-4D25-CE087C4CA354}"/>
              </a:ext>
            </a:extLst>
          </p:cNvPr>
          <p:cNvSpPr/>
          <p:nvPr/>
        </p:nvSpPr>
        <p:spPr>
          <a:xfrm>
            <a:off x="8014854" y="4844112"/>
            <a:ext cx="1129146" cy="299388"/>
          </a:xfrm>
          <a:prstGeom prst="rect">
            <a:avLst/>
          </a:prstGeom>
          <a:solidFill>
            <a:srgbClr val="2B2B2F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395883"/>
            <a:ext cx="4722763" cy="8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CBCCCE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What Is Sorting — and Why Does It Matter?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1433661"/>
            <a:ext cx="4722763" cy="101880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55430" y="1587773"/>
            <a:ext cx="43383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Sorting Defined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4155430" y="1876127"/>
            <a:ext cx="4338340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Arranging elements in a specific order — typically ascending or descending — based on a comparison rule.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2581201"/>
            <a:ext cx="4722763" cy="101880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55430" y="2735312"/>
            <a:ext cx="43383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Why It's Fundamental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4155430" y="3023667"/>
            <a:ext cx="4338340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Sorting underpins search, databases, data compression, and virtually every real-world software system.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3728740"/>
            <a:ext cx="4722763" cy="101880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155430" y="3882851"/>
            <a:ext cx="43383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This Project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4155430" y="4171206"/>
            <a:ext cx="4338340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 visualizer that animates five classic sorting algorithms, counts operations, and measures execution time.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2F07C7-CCBB-ABAE-1529-E468D1675BFB}"/>
              </a:ext>
            </a:extLst>
          </p:cNvPr>
          <p:cNvSpPr/>
          <p:nvPr/>
        </p:nvSpPr>
        <p:spPr>
          <a:xfrm>
            <a:off x="8014854" y="4844112"/>
            <a:ext cx="1129146" cy="299388"/>
          </a:xfrm>
          <a:prstGeom prst="rect">
            <a:avLst/>
          </a:prstGeom>
          <a:solidFill>
            <a:srgbClr val="2B2B2F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5694"/>
            <a:ext cx="8151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CBCCCE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Project Objectives</a:t>
            </a:r>
            <a:endParaRPr lang="en-US" sz="2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96119" y="1025723"/>
            <a:ext cx="4023568" cy="1157585"/>
          </a:xfrm>
          <a:prstGeom prst="roundRect">
            <a:avLst>
              <a:gd name="adj" fmla="val 4420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22697" y="1152302"/>
            <a:ext cx="365447" cy="365447"/>
          </a:xfrm>
          <a:prstGeom prst="ellipse">
            <a:avLst/>
          </a:prstGeom>
          <a:solidFill>
            <a:srgbClr val="E4E4E7"/>
          </a:solidFill>
          <a:ln/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22697" y="1622375"/>
            <a:ext cx="3770412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Visualize Algorithms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22697" y="1875532"/>
            <a:ext cx="3770412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Animate each step of sorting with horizontal bar charts.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624313" y="1025723"/>
            <a:ext cx="4023568" cy="1157585"/>
          </a:xfrm>
          <a:prstGeom prst="roundRect">
            <a:avLst>
              <a:gd name="adj" fmla="val 4420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750891" y="1152302"/>
            <a:ext cx="365447" cy="365447"/>
          </a:xfrm>
          <a:prstGeom prst="ellipse">
            <a:avLst/>
          </a:prstGeom>
          <a:solidFill>
            <a:srgbClr val="E4E4E7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51350" y="1252761"/>
            <a:ext cx="164455" cy="16445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50891" y="1622375"/>
            <a:ext cx="3770412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Five Algorithms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4750891" y="1875532"/>
            <a:ext cx="3770412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Bubble, Selection, Insertion, Merge, and Quick Sort.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496119" y="2287935"/>
            <a:ext cx="4023568" cy="1157585"/>
          </a:xfrm>
          <a:prstGeom prst="roundRect">
            <a:avLst>
              <a:gd name="adj" fmla="val 4420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22697" y="2414513"/>
            <a:ext cx="365447" cy="365447"/>
          </a:xfrm>
          <a:prstGeom prst="ellipse">
            <a:avLst/>
          </a:prstGeom>
          <a:solidFill>
            <a:srgbClr val="E4E4E7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156" y="2514972"/>
            <a:ext cx="164455" cy="16445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2697" y="2884587"/>
            <a:ext cx="3770412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Flexible Input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622697" y="3137743"/>
            <a:ext cx="3770412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Accept both manually entered and randomly generated arrays.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4624313" y="2287935"/>
            <a:ext cx="4023568" cy="1157585"/>
          </a:xfrm>
          <a:prstGeom prst="roundRect">
            <a:avLst>
              <a:gd name="adj" fmla="val 4420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4750891" y="2414513"/>
            <a:ext cx="365447" cy="365447"/>
          </a:xfrm>
          <a:prstGeom prst="ellipse">
            <a:avLst/>
          </a:prstGeom>
          <a:solidFill>
            <a:srgbClr val="E4E4E7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51350" y="2514972"/>
            <a:ext cx="164455" cy="16445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50891" y="2884587"/>
            <a:ext cx="3770412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Count Operations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4750891" y="3137743"/>
            <a:ext cx="3770412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Track comparisons and swaps/movements for each run.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496119" y="3550146"/>
            <a:ext cx="4023568" cy="1157585"/>
          </a:xfrm>
          <a:prstGeom prst="roundRect">
            <a:avLst>
              <a:gd name="adj" fmla="val 4420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622697" y="3676724"/>
            <a:ext cx="365447" cy="365447"/>
          </a:xfrm>
          <a:prstGeom prst="ellipse">
            <a:avLst/>
          </a:prstGeom>
          <a:solidFill>
            <a:srgbClr val="E4E4E7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3156" y="3777183"/>
            <a:ext cx="164455" cy="16445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22697" y="4146798"/>
            <a:ext cx="3770412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Measure Time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0"/>
          <p:cNvSpPr/>
          <p:nvPr/>
        </p:nvSpPr>
        <p:spPr>
          <a:xfrm>
            <a:off x="622697" y="4399955"/>
            <a:ext cx="3770412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Record wall-clock execution time per algorithm.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1"/>
          <p:cNvSpPr/>
          <p:nvPr/>
        </p:nvSpPr>
        <p:spPr>
          <a:xfrm>
            <a:off x="4624313" y="3550146"/>
            <a:ext cx="4023568" cy="1157585"/>
          </a:xfrm>
          <a:prstGeom prst="roundRect">
            <a:avLst>
              <a:gd name="adj" fmla="val 4420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2"/>
          <p:cNvSpPr/>
          <p:nvPr/>
        </p:nvSpPr>
        <p:spPr>
          <a:xfrm>
            <a:off x="4750891" y="3676724"/>
            <a:ext cx="365447" cy="365447"/>
          </a:xfrm>
          <a:prstGeom prst="ellipse">
            <a:avLst/>
          </a:prstGeom>
          <a:solidFill>
            <a:srgbClr val="E4E4E7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51350" y="3777183"/>
            <a:ext cx="164455" cy="164455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750891" y="4146798"/>
            <a:ext cx="3770412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Display Complexity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4"/>
          <p:cNvSpPr/>
          <p:nvPr/>
        </p:nvSpPr>
        <p:spPr>
          <a:xfrm>
            <a:off x="4750891" y="4399955"/>
            <a:ext cx="3770412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Show best, average, and worst-case Big-O notations.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C8DFD88-5DF0-2F94-E48A-DC34D71B15C7}"/>
              </a:ext>
            </a:extLst>
          </p:cNvPr>
          <p:cNvSpPr/>
          <p:nvPr/>
        </p:nvSpPr>
        <p:spPr>
          <a:xfrm>
            <a:off x="8014854" y="4844112"/>
            <a:ext cx="1129146" cy="299388"/>
          </a:xfrm>
          <a:prstGeom prst="rect">
            <a:avLst/>
          </a:prstGeom>
          <a:solidFill>
            <a:srgbClr val="2B2B2F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pic>
        <p:nvPicPr>
          <p:cNvPr id="49" name="Graphic 48" descr="Eyes outline">
            <a:extLst>
              <a:ext uri="{FF2B5EF4-FFF2-40B4-BE49-F238E27FC236}">
                <a16:creationId xmlns:a16="http://schemas.microsoft.com/office/drawing/2014/main" id="{F860CB36-94B9-1361-7C33-06DEF94E9B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5298" y="1200485"/>
            <a:ext cx="280169" cy="2801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797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CBCCCE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Sorting Algorithms Implemented</a:t>
            </a:r>
            <a:endParaRPr lang="en-US" sz="2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224483"/>
            <a:ext cx="838200" cy="5179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919660"/>
            <a:ext cx="190500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Bubble Sort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96119" y="2226171"/>
            <a:ext cx="190500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Repeatedly swaps adjacent pairs that are out of order.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298" y="1224483"/>
            <a:ext cx="838200" cy="5179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78298" y="1919660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Selection Sort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2578298" y="2226171"/>
            <a:ext cx="19050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Selects the smallest element and places it in correct position.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553" y="1224483"/>
            <a:ext cx="838200" cy="5179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0553" y="1919660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Insertion Sort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4660553" y="2226171"/>
            <a:ext cx="19050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Builds a sorted portion by inserting elements one at a time.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807" y="1224483"/>
            <a:ext cx="838200" cy="51799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42807" y="1919660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Merge Sort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6742807" y="2226171"/>
            <a:ext cx="19050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Divide-and-conquer: splits, sorts, and merges sub-arrays.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119" y="3190131"/>
            <a:ext cx="838200" cy="51799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96119" y="3885307"/>
            <a:ext cx="190500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Quick Sort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496119" y="4191819"/>
            <a:ext cx="190500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Partitions around a pivot and recursively sorts each side.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A6906C-45FB-D47F-911F-06EB6321F0DF}"/>
              </a:ext>
            </a:extLst>
          </p:cNvPr>
          <p:cNvSpPr/>
          <p:nvPr/>
        </p:nvSpPr>
        <p:spPr>
          <a:xfrm>
            <a:off x="8014854" y="4844112"/>
            <a:ext cx="1129146" cy="299388"/>
          </a:xfrm>
          <a:prstGeom prst="rect">
            <a:avLst/>
          </a:prstGeom>
          <a:solidFill>
            <a:srgbClr val="2B2B2F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31079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CBCCCE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System Workflow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1356" y="720849"/>
            <a:ext cx="398673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The visualizer follows a clear, linear flow — from input selection through algorithm execution to result display with operation counts and timing.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96119" y="1488325"/>
            <a:ext cx="3986733" cy="1315835"/>
          </a:xfrm>
          <a:prstGeom prst="rect">
            <a:avLst/>
          </a:prstGeom>
          <a:noFill/>
          <a:ln/>
        </p:spPr>
        <p:txBody>
          <a:bodyPr wrap="square" lIns="0" tIns="29240" rIns="0" bIns="0" rtlCol="0" anchor="t">
            <a:noAutofit/>
          </a:bodyPr>
          <a:lstStyle/>
          <a:p>
            <a:pPr marL="111760" indent="-111760" algn="l">
              <a:lnSpc>
                <a:spcPct val="200000"/>
              </a:lnSpc>
              <a:buSzPct val="100000"/>
              <a:buChar char="•"/>
            </a:pPr>
            <a:r>
              <a:rPr lang="en-US" sz="12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User chooses manual or random array input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1760" indent="-111760" algn="l">
              <a:lnSpc>
                <a:spcPct val="200000"/>
              </a:lnSpc>
              <a:buSzPct val="100000"/>
              <a:buChar char="•"/>
            </a:pPr>
            <a:r>
              <a:rPr lang="en-US" sz="12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Original array is displayed as horizontal bars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1760" indent="-111760" algn="l">
              <a:lnSpc>
                <a:spcPct val="200000"/>
              </a:lnSpc>
              <a:buSzPct val="100000"/>
              <a:buChar char="•"/>
            </a:pPr>
            <a:r>
              <a:rPr lang="en-US" sz="12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User selects one of five sorting algorithms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1760" indent="-111760" algn="l">
              <a:lnSpc>
                <a:spcPct val="200000"/>
              </a:lnSpc>
              <a:buSzPct val="100000"/>
              <a:buChar char="•"/>
            </a:pPr>
            <a:r>
              <a:rPr lang="en-US" sz="12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Algorithm runs with live step-by-step visualization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1760" indent="-111760" algn="l">
              <a:lnSpc>
                <a:spcPct val="200000"/>
              </a:lnSpc>
              <a:buSzPct val="100000"/>
              <a:buChar char="•"/>
            </a:pPr>
            <a:r>
              <a:rPr lang="en-US" sz="12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Comparisons, swaps, and execution time are recorded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1760" indent="-111760" algn="l">
              <a:lnSpc>
                <a:spcPct val="200000"/>
              </a:lnSpc>
              <a:buSzPct val="100000"/>
              <a:buChar char="•"/>
            </a:pPr>
            <a:r>
              <a:rPr lang="en-US" sz="12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Final sorted array and statistics are displayed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638" y="46162"/>
            <a:ext cx="4703762" cy="470376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8649E79-75E8-93CE-D5AE-A1B744458E61}"/>
              </a:ext>
            </a:extLst>
          </p:cNvPr>
          <p:cNvSpPr/>
          <p:nvPr/>
        </p:nvSpPr>
        <p:spPr>
          <a:xfrm>
            <a:off x="8014854" y="4844112"/>
            <a:ext cx="1129146" cy="299388"/>
          </a:xfrm>
          <a:prstGeom prst="rect">
            <a:avLst/>
          </a:prstGeom>
          <a:solidFill>
            <a:srgbClr val="2B2B2F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1095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2F2F3"/>
                </a:solidFill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Technologies Used</a:t>
            </a:r>
            <a:endParaRPr lang="en-US" sz="2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96119" y="1437456"/>
            <a:ext cx="8151763" cy="2041773"/>
          </a:xfrm>
          <a:prstGeom prst="roundRect">
            <a:avLst>
              <a:gd name="adj" fmla="val 2916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0881" y="1442219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2640" y="1532037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Times New Roman" panose="02020603050405020304" pitchFamily="18" charset="0"/>
                <a:ea typeface="Roboto Bold" pitchFamily="34" charset="-122"/>
                <a:cs typeface="Times New Roman" panose="02020603050405020304" pitchFamily="18" charset="0"/>
              </a:rPr>
              <a:t>Technology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716140" y="1532037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Times New Roman" panose="02020603050405020304" pitchFamily="18" charset="0"/>
                <a:ea typeface="Roboto Bold" pitchFamily="34" charset="-122"/>
                <a:cs typeface="Times New Roman" panose="02020603050405020304" pitchFamily="18" charset="0"/>
              </a:rPr>
              <a:t>Purpose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0881" y="1848669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2640" y="1938486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71450" indent="-171450" algn="l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E5E0DF"/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C Language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716140" y="1938486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71450" indent="-171450" algn="l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E5E0DF"/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Core simulator development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00881" y="2255118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2640" y="2344936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71450" indent="-171450" algn="l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E5E0DF"/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VS Code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16140" y="2344936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71450" indent="-171450" algn="l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E5E0DF"/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Code editing and debugging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00881" y="2661568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2640" y="2751386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71450" indent="-171450" algn="l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E5E0DF"/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GCC (MinGW)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716140" y="2751386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71450" indent="-171450" algn="l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E5E0DF"/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Compilation on Windows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10406" y="3072779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2640" y="3157835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71450" indent="-171450" algn="l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E5E0DF"/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Windows CMD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716140" y="3157835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71450" indent="-171450" algn="l">
              <a:lnSpc>
                <a:spcPct val="133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E5E0DF"/>
                </a:solidFill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Program execution and I/O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0EB7CA-C8D3-3FB6-2031-655113EF13BD}"/>
              </a:ext>
            </a:extLst>
          </p:cNvPr>
          <p:cNvSpPr txBox="1"/>
          <p:nvPr/>
        </p:nvSpPr>
        <p:spPr>
          <a:xfrm>
            <a:off x="8729003" y="4784726"/>
            <a:ext cx="4149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429BF15-7FB2-4009-F153-7A1D05CB13AC}"/>
              </a:ext>
            </a:extLst>
          </p:cNvPr>
          <p:cNvSpPr/>
          <p:nvPr/>
        </p:nvSpPr>
        <p:spPr>
          <a:xfrm>
            <a:off x="8014854" y="4844112"/>
            <a:ext cx="1129146" cy="299388"/>
          </a:xfrm>
          <a:prstGeom prst="rect">
            <a:avLst/>
          </a:prstGeom>
          <a:solidFill>
            <a:srgbClr val="2B2B2F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783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CBCCCE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Algorithm Complexity Comparison</a:t>
            </a:r>
            <a:endParaRPr lang="en-US" sz="2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96119" y="1404342"/>
            <a:ext cx="8151763" cy="2448223"/>
          </a:xfrm>
          <a:prstGeom prst="roundRect">
            <a:avLst>
              <a:gd name="adj" fmla="val 2432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0881" y="1409105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2863" y="1498922"/>
            <a:ext cx="1962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FD0D8"/>
                </a:solidFill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Algorithm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436465" y="1498922"/>
            <a:ext cx="228585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FD0D8"/>
                </a:solidFill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Best Case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53396" y="1498922"/>
            <a:ext cx="228585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FD0D8"/>
                </a:solidFill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Average Case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670328" y="1498922"/>
            <a:ext cx="228823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FD0D8"/>
                </a:solidFill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Worst Case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00881" y="1815554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2863" y="1905372"/>
            <a:ext cx="1962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Bubble Sort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436465" y="1905372"/>
            <a:ext cx="228585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O(n)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53396" y="1905372"/>
            <a:ext cx="228585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O(n²)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670328" y="1905372"/>
            <a:ext cx="228823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O(n²)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00881" y="2222004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2863" y="2311822"/>
            <a:ext cx="1962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Selection Sort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436465" y="2311822"/>
            <a:ext cx="228585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O(n²)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53396" y="2311822"/>
            <a:ext cx="228585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O(n²)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670328" y="2311822"/>
            <a:ext cx="228823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O(n²)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00881" y="2628454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2863" y="2718271"/>
            <a:ext cx="1962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Insertion Sort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436465" y="2718271"/>
            <a:ext cx="228585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O(n)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553396" y="2718271"/>
            <a:ext cx="228585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O(n²)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670328" y="2718271"/>
            <a:ext cx="228823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O(n²)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00881" y="3034903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2863" y="3124721"/>
            <a:ext cx="1962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Merge Sort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436465" y="3124721"/>
            <a:ext cx="228585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O(n log n)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553396" y="3124721"/>
            <a:ext cx="228585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O(n log n)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670328" y="3124721"/>
            <a:ext cx="228823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O(n log n)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00881" y="3441353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42863" y="3531171"/>
            <a:ext cx="1962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Quick Sort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436465" y="3531171"/>
            <a:ext cx="228585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O(n log n)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553396" y="3531171"/>
            <a:ext cx="228585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O(n log n)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670328" y="3531171"/>
            <a:ext cx="228823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O(n²)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96119" y="4012034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Merge Sort offers the most consistent performance. Quick Sort is fastest on average but degrades to O(n²) with poor pivot choices.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0CC7ED5-B5A4-473F-DD9B-FEB50E46E174}"/>
              </a:ext>
            </a:extLst>
          </p:cNvPr>
          <p:cNvSpPr/>
          <p:nvPr/>
        </p:nvSpPr>
        <p:spPr>
          <a:xfrm>
            <a:off x="8014854" y="4844112"/>
            <a:ext cx="1129146" cy="299388"/>
          </a:xfrm>
          <a:prstGeom prst="rect">
            <a:avLst/>
          </a:prstGeom>
          <a:solidFill>
            <a:srgbClr val="2B2B2F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CBCCCE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Performance Measurement</a:t>
            </a:r>
            <a:endParaRPr lang="en-US" sz="2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204913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4173736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Values are illustrative — replace with actual test results from your program runs.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749701" y="1187202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BCCCE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What We Measure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9701" y="1568128"/>
            <a:ext cx="3902943" cy="9116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86710" y="1728936"/>
            <a:ext cx="350512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Comparisons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4986710" y="2092151"/>
            <a:ext cx="350512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Total element-to-element comparisons performed.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9701" y="2621533"/>
            <a:ext cx="3902943" cy="9116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86710" y="2782342"/>
            <a:ext cx="350512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Swaps / Moves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4986710" y="3145557"/>
            <a:ext cx="350512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Actual data movements or exchanges executed.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9701" y="3674938"/>
            <a:ext cx="3902943" cy="9116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86710" y="3835747"/>
            <a:ext cx="350512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Execution Time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4986710" y="4198962"/>
            <a:ext cx="350512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Wall-clock time in milliseconds per algorithm run.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2A7F8F-778C-D076-59C3-5327D881AAEC}"/>
              </a:ext>
            </a:extLst>
          </p:cNvPr>
          <p:cNvSpPr/>
          <p:nvPr/>
        </p:nvSpPr>
        <p:spPr>
          <a:xfrm>
            <a:off x="8014854" y="4844112"/>
            <a:ext cx="1129146" cy="299388"/>
          </a:xfrm>
          <a:prstGeom prst="rect">
            <a:avLst/>
          </a:prstGeom>
          <a:solidFill>
            <a:srgbClr val="2B2B2F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3175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2F2F3"/>
                </a:solidFill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Program Demonstration</a:t>
            </a:r>
            <a:endParaRPr lang="en-US" sz="2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904108" y="4457803"/>
            <a:ext cx="1921073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i="1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Main Menu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428467" y="4653822"/>
            <a:ext cx="1921073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Configuration and mode selection.</a:t>
            </a:r>
            <a:endParaRPr lang="en-US" sz="1000" dirty="0"/>
          </a:p>
        </p:txBody>
      </p:sp>
      <p:sp>
        <p:nvSpPr>
          <p:cNvPr id="17" name="Text 10"/>
          <p:cNvSpPr/>
          <p:nvPr/>
        </p:nvSpPr>
        <p:spPr>
          <a:xfrm>
            <a:off x="5579999" y="4446132"/>
            <a:ext cx="1921073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i="1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Final Statistics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5318820" y="4653829"/>
            <a:ext cx="2281947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Hit/miss ratios and access counts.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0C26AB8-2477-00BA-8771-576D043CE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226" y="1064817"/>
            <a:ext cx="2346732" cy="32511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D6DF10B-A77F-366C-6D00-4AA2A23F38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712" y="1064077"/>
            <a:ext cx="2639710" cy="325188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8B707F1-E555-C491-B89E-E952786BC311}"/>
              </a:ext>
            </a:extLst>
          </p:cNvPr>
          <p:cNvSpPr/>
          <p:nvPr/>
        </p:nvSpPr>
        <p:spPr>
          <a:xfrm>
            <a:off x="8014854" y="4844112"/>
            <a:ext cx="1129146" cy="299388"/>
          </a:xfrm>
          <a:prstGeom prst="rect">
            <a:avLst/>
          </a:prstGeom>
          <a:solidFill>
            <a:srgbClr val="2B2B2F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8199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CBCCCE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Conclusion &amp; Future Work</a:t>
            </a:r>
            <a:endParaRPr lang="en-US" sz="2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37933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anose="02020603050405020304" pitchFamily="18" charset="0"/>
                <a:ea typeface="Twemoji Mozilla" pitchFamily="34" charset="-122"/>
                <a:cs typeface="Times New Roman" panose="02020603050405020304" pitchFamily="18" charset="0"/>
              </a:rPr>
              <a:t>✅</a:t>
            </a:r>
            <a:r>
              <a:rPr lang="en-US" sz="1350" dirty="0">
                <a:solidFill>
                  <a:srgbClr val="CBCCCE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 What We Achieved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96119" y="1742554"/>
            <a:ext cx="3902943" cy="1055936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Visualized 5 sorting algorithms with live animation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Tracked comparisons, swaps, and execution time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Supported both manual and random array input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Displayed Big-O complexity for each algorithm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96119" y="2940248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anose="02020603050405020304" pitchFamily="18" charset="0"/>
                <a:ea typeface="Twemoji Mozilla" pitchFamily="34" charset="-122"/>
                <a:cs typeface="Times New Roman" panose="02020603050405020304" pitchFamily="18" charset="0"/>
              </a:rPr>
              <a:t>🎓</a:t>
            </a:r>
            <a:r>
              <a:rPr lang="en-US" sz="1350" dirty="0">
                <a:solidFill>
                  <a:srgbClr val="CBCCCE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 Learning Outcomes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96119" y="3303463"/>
            <a:ext cx="3902943" cy="503188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Deepened understanding of algorithmic behavior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Practiced performance measurement and analysis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749701" y="137933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anose="02020603050405020304" pitchFamily="18" charset="0"/>
                <a:ea typeface="Twemoji Mozilla" pitchFamily="34" charset="-122"/>
                <a:cs typeface="Times New Roman" panose="02020603050405020304" pitchFamily="18" charset="0"/>
              </a:rPr>
              <a:t>🔭</a:t>
            </a:r>
            <a:r>
              <a:rPr lang="en-US" sz="1350" dirty="0">
                <a:solidFill>
                  <a:srgbClr val="CBCCCE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 Future Improvements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2832" y="1767334"/>
            <a:ext cx="212601" cy="21260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10398" y="1760265"/>
            <a:ext cx="140218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Full GUI with speed control &amp; step-by-step mode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42894" y="1767334"/>
            <a:ext cx="212601" cy="21260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50460" y="1760265"/>
            <a:ext cx="140218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Add more algorithms (Heap, Radix, Shell Sort)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2832" y="2731294"/>
            <a:ext cx="212601" cy="21260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10398" y="2724224"/>
            <a:ext cx="140218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Graph-based comparison charts and export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42894" y="2731294"/>
            <a:ext cx="212601" cy="21260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250460" y="2724224"/>
            <a:ext cx="140218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Cross-platform support (web &amp; desktop)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CACEF6-CC60-638C-2675-BE66DB16520F}"/>
              </a:ext>
            </a:extLst>
          </p:cNvPr>
          <p:cNvSpPr/>
          <p:nvPr/>
        </p:nvSpPr>
        <p:spPr>
          <a:xfrm>
            <a:off x="8014854" y="4844112"/>
            <a:ext cx="1129146" cy="299388"/>
          </a:xfrm>
          <a:prstGeom prst="rect">
            <a:avLst/>
          </a:prstGeom>
          <a:solidFill>
            <a:srgbClr val="2B2B2F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285CFC-EC4F-25B0-A60A-7DD1984CCDB5}"/>
              </a:ext>
            </a:extLst>
          </p:cNvPr>
          <p:cNvSpPr txBox="1"/>
          <p:nvPr/>
        </p:nvSpPr>
        <p:spPr>
          <a:xfrm>
            <a:off x="8011550" y="4746033"/>
            <a:ext cx="1055077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3EB454-9EE2-FCE5-B88D-2DB80DD2D8B7}"/>
              </a:ext>
            </a:extLst>
          </p:cNvPr>
          <p:cNvSpPr txBox="1"/>
          <p:nvPr/>
        </p:nvSpPr>
        <p:spPr>
          <a:xfrm>
            <a:off x="485854" y="1778092"/>
            <a:ext cx="817228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Everyone!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C3CC25E-46C0-FE9F-55C3-139FF9EAF634}"/>
              </a:ext>
            </a:extLst>
          </p:cNvPr>
          <p:cNvSpPr/>
          <p:nvPr/>
        </p:nvSpPr>
        <p:spPr>
          <a:xfrm>
            <a:off x="3156373" y="3182356"/>
            <a:ext cx="2831253" cy="1212427"/>
          </a:xfrm>
          <a:prstGeom prst="ellipse">
            <a:avLst/>
          </a:prstGeom>
          <a:noFill/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END!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66F6CE-591E-B39E-36AB-F60C66B9F504}"/>
              </a:ext>
            </a:extLst>
          </p:cNvPr>
          <p:cNvSpPr/>
          <p:nvPr/>
        </p:nvSpPr>
        <p:spPr>
          <a:xfrm>
            <a:off x="7974515" y="4746033"/>
            <a:ext cx="1129146" cy="369332"/>
          </a:xfrm>
          <a:prstGeom prst="rect">
            <a:avLst/>
          </a:prstGeom>
          <a:solidFill>
            <a:srgbClr val="2B2B2F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0546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637</Words>
  <Application>Microsoft Office PowerPoint</Application>
  <PresentationFormat>On-screen Show (16:9)</PresentationFormat>
  <Paragraphs>136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Roboto Light</vt:lpstr>
      <vt:lpstr>Times New Roman</vt:lpstr>
      <vt:lpstr>Poppins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JONAYET BOGDADY</cp:lastModifiedBy>
  <cp:revision>11</cp:revision>
  <dcterms:created xsi:type="dcterms:W3CDTF">2026-08-18T15:44:38Z</dcterms:created>
  <dcterms:modified xsi:type="dcterms:W3CDTF">2026-08-19T15:16:11Z</dcterms:modified>
</cp:coreProperties>
</file>